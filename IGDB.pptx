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5143500" cx="9144000"/>
  <p:notesSz cx="6858000" cy="9144000"/>
  <p:embeddedFontLst>
    <p:embeddedFont>
      <p:font typeface="Questrial"/>
      <p:regular r:id="rId53"/>
    </p:embeddedFont>
  </p:embeddedFontLst>
  <p:defaultTextStyle>
    <a:defPPr marR="0" rtl="0" algn="l">
      <a:lnSpc>
        <a:spcPct val="100000"/>
      </a:lnSpc>
      <a:spcBef>
        <a:spcPts val="0"/>
      </a:spcBef>
      <a:spcAft>
        <a:spcPts val="0"/>
      </a:spcAft>
    </a:defPPr>
    <a:lvl1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Questrial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8" name="Shape 108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4" name="Shape 11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0" name="Shape 12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6" name="Shape 126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2" name="Shape 13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8" name="Shape 138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8" name="Shape 148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4" name="Shape 15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Was used to seed the database with content. Can tailor the bot to scrape most information on the web. 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In our case it was to collect information about Games. 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Information collected: Name, Rating, Description, Genre, Platform, Image URL and Image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8" name="Shape 17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5" name="Shape 1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" name="Shape 22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6" name="Shape 22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2" name="Shape 23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9" name="Shape 23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8" name="Shape 24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5" name="Shape 25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1" name="Shape 27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8" name="Shape 27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3" name="Shape 29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9" name="Shape 29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5" name="Shape 30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1" name="Shape 31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7" name="Shape 31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0" name="Shape 33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7" name="Shape 33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4" name="Shape 344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0" name="Shape 350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7" name="Shape 357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4" name="Shape 364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1" name="Shape 37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8" name="Shape 378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5" name="Shape 3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" name="Shape 3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8" name="Shape 3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05" name="Shape 405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2" name="Shape 41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9" name="Shape 419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  <p:sp>
        <p:nvSpPr>
          <p:cNvPr id="15" name="Shape 15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x="1371600" y="371475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0" marL="0" marR="0" rtl="0" algn="ctr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baseline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marL="342900" marR="0" rtl="0" algn="ctr">
              <a:spcBef>
                <a:spcPts val="200"/>
              </a:spcBef>
              <a:buClr>
                <a:srgbClr val="888888"/>
              </a:buClr>
              <a:buFont typeface="Courier New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ctr">
              <a:spcBef>
                <a:spcPts val="200"/>
              </a:spcBef>
              <a:buClr>
                <a:srgbClr val="888888"/>
              </a:buClr>
              <a:buFont typeface="Arial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ctr">
              <a:spcBef>
                <a:spcPts val="200"/>
              </a:spcBef>
              <a:buClr>
                <a:srgbClr val="888888"/>
              </a:buClr>
              <a:buFont typeface="Courier New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ctr">
              <a:spcBef>
                <a:spcPts val="200"/>
              </a:spcBef>
              <a:buClr>
                <a:srgbClr val="888888"/>
              </a:buClr>
              <a:buFont typeface="Arial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ctr">
              <a:spcBef>
                <a:spcPts val="200"/>
              </a:spcBef>
              <a:buClr>
                <a:srgbClr val="888888"/>
              </a:buClr>
              <a:buFont typeface="Courier New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ctr">
              <a:spcBef>
                <a:spcPts val="200"/>
              </a:spcBef>
              <a:buClr>
                <a:srgbClr val="888888"/>
              </a:buClr>
              <a:buFont typeface="Arial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ctr">
              <a:spcBef>
                <a:spcPts val="200"/>
              </a:spcBef>
              <a:buClr>
                <a:srgbClr val="888888"/>
              </a:buClr>
              <a:buFont typeface="Courier New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ctr">
              <a:spcBef>
                <a:spcPts val="200"/>
              </a:spcBef>
              <a:buClr>
                <a:srgbClr val="888888"/>
              </a:buClr>
              <a:buFont typeface="Arial"/>
              <a:buNone/>
              <a:defRPr b="0" baseline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Shape 17"/>
          <p:cNvSpPr txBox="1"/>
          <p:nvPr>
            <p:ph type="ctrTitle"/>
          </p:nvPr>
        </p:nvSpPr>
        <p:spPr>
          <a:xfrm>
            <a:off x="685800" y="457200"/>
            <a:ext cx="77724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indent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Questrial"/>
              <a:buNone/>
              <a:defRPr b="0" baseline="0" i="0" sz="50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0" marR="0" rtl="0" algn="l">
              <a:spcBef>
                <a:spcPts val="0"/>
              </a:spcBef>
              <a:defRPr/>
            </a:lvl2pPr>
            <a:lvl3pPr indent="0" marL="0" marR="0" rtl="0" algn="l">
              <a:spcBef>
                <a:spcPts val="0"/>
              </a:spcBef>
              <a:defRPr/>
            </a:lvl3pPr>
            <a:lvl4pPr indent="0" marL="0" marR="0" rtl="0" algn="l">
              <a:spcBef>
                <a:spcPts val="0"/>
              </a:spcBef>
              <a:defRPr/>
            </a:lvl4pPr>
            <a:lvl5pPr indent="0" marL="0" marR="0" rtl="0" algn="l">
              <a:spcBef>
                <a:spcPts val="0"/>
              </a:spcBef>
              <a:defRPr/>
            </a:lvl5pPr>
            <a:lvl6pPr indent="0" marL="0" marR="0" rtl="0" algn="l">
              <a:spcBef>
                <a:spcPts val="0"/>
              </a:spcBef>
              <a:defRPr/>
            </a:lvl6pPr>
            <a:lvl7pPr indent="0" marL="0" marR="0" rtl="0" algn="l">
              <a:spcBef>
                <a:spcPts val="0"/>
              </a:spcBef>
              <a:defRPr/>
            </a:lvl7pPr>
            <a:lvl8pPr indent="0" marL="0" marR="0" rtl="0" algn="l">
              <a:spcBef>
                <a:spcPts val="0"/>
              </a:spcBef>
              <a:defRPr/>
            </a:lvl8pPr>
            <a:lvl9pPr indent="0" marL="0" marR="0" rtl="0" algn="l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Questrial"/>
              <a:buNone/>
              <a:defRPr sz="3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rtl="0">
              <a:spcBef>
                <a:spcPts val="0"/>
              </a:spcBef>
              <a:defRPr>
                <a:solidFill>
                  <a:schemeClr val="dk1"/>
                </a:solidFill>
              </a:defRPr>
            </a:lvl1pPr>
            <a:lvl2pPr rtl="0">
              <a:spcBef>
                <a:spcPts val="0"/>
              </a:spcBef>
              <a:defRPr>
                <a:solidFill>
                  <a:schemeClr val="dk1"/>
                </a:solidFill>
              </a:defRPr>
            </a:lvl2pPr>
            <a:lvl3pPr rtl="0">
              <a:spcBef>
                <a:spcPts val="0"/>
              </a:spcBef>
              <a:defRPr>
                <a:solidFill>
                  <a:schemeClr val="dk1"/>
                </a:solidFill>
              </a:defRPr>
            </a:lvl3pPr>
            <a:lvl4pPr rtl="0">
              <a:spcBef>
                <a:spcPts val="0"/>
              </a:spcBef>
              <a:defRPr>
                <a:solidFill>
                  <a:schemeClr val="dk1"/>
                </a:solidFill>
              </a:defRPr>
            </a:lvl4pPr>
            <a:lvl5pPr rtl="0">
              <a:spcBef>
                <a:spcPts val="0"/>
              </a:spcBef>
              <a:defRPr>
                <a:solidFill>
                  <a:schemeClr val="dk1"/>
                </a:solidFill>
              </a:defRPr>
            </a:lvl5pPr>
            <a:lvl6pPr rtl="0">
              <a:spcBef>
                <a:spcPts val="0"/>
              </a:spcBef>
              <a:defRPr>
                <a:solidFill>
                  <a:schemeClr val="dk1"/>
                </a:solidFill>
              </a:defRPr>
            </a:lvl6pPr>
            <a:lvl7pPr rtl="0">
              <a:spcBef>
                <a:spcPts val="0"/>
              </a:spcBef>
              <a:defRPr>
                <a:solidFill>
                  <a:schemeClr val="dk1"/>
                </a:solidFill>
              </a:defRPr>
            </a:lvl7pPr>
            <a:lvl8pPr rtl="0">
              <a:spcBef>
                <a:spcPts val="0"/>
              </a:spcBef>
              <a:defRPr>
                <a:solidFill>
                  <a:schemeClr val="dk1"/>
                </a:solidFill>
              </a:defRPr>
            </a:lvl8pPr>
            <a:lvl9pPr rtl="0">
              <a:spcBef>
                <a:spcPts val="0"/>
              </a:spcBef>
              <a:buClr>
                <a:schemeClr val="dk1"/>
              </a:buClr>
              <a:buFont typeface="Arial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Shape 21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722312" y="1028700"/>
            <a:ext cx="7772400" cy="18788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Questrial"/>
              <a:buNone/>
              <a:defRPr sz="3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722312" y="3051573"/>
            <a:ext cx="7772400" cy="8489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0" marL="0" rtl="0" algn="ctr"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sz="1500">
                <a:solidFill>
                  <a:schemeClr val="dk1"/>
                </a:solidFill>
              </a:defRPr>
            </a:lvl1pPr>
            <a:lvl2pPr indent="0" marL="3429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400">
                <a:solidFill>
                  <a:srgbClr val="888888"/>
                </a:solidFill>
              </a:defRPr>
            </a:lvl2pPr>
            <a:lvl3pPr indent="0" marL="6858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200">
                <a:solidFill>
                  <a:srgbClr val="888888"/>
                </a:solidFill>
              </a:defRPr>
            </a:lvl3pPr>
            <a:lvl4pPr indent="0" marL="10287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4pPr>
            <a:lvl5pPr indent="0" marL="13716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5pPr>
            <a:lvl6pPr indent="0" marL="17145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6pPr>
            <a:lvl7pPr indent="0" marL="20574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7pPr>
            <a:lvl8pPr indent="0" marL="24003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8pPr>
            <a:lvl9pPr indent="0" marL="2743200" rtl="0">
              <a:spcBef>
                <a:spcPts val="0"/>
              </a:spcBef>
              <a:buClr>
                <a:srgbClr val="888888"/>
              </a:buClr>
              <a:buFont typeface="Times New Roman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  <p:sp>
        <p:nvSpPr>
          <p:cNvPr id="30" name="Shape 30"/>
          <p:cNvSpPr/>
          <p:nvPr/>
        </p:nvSpPr>
        <p:spPr>
          <a:xfrm>
            <a:off x="4495800" y="2943225"/>
            <a:ext cx="84900" cy="63599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4695825" y="2943225"/>
            <a:ext cx="84900" cy="63599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4296728" y="2943225"/>
            <a:ext cx="84900" cy="63599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4648200" y="1200150"/>
            <a:ext cx="4038599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rtl="0">
              <a:spcBef>
                <a:spcPts val="0"/>
              </a:spcBef>
              <a:defRPr sz="1800"/>
            </a:lvl1pPr>
            <a:lvl2pPr rtl="0">
              <a:spcBef>
                <a:spcPts val="0"/>
              </a:spcBef>
              <a:defRPr sz="1200"/>
            </a:lvl2pPr>
            <a:lvl3pPr rtl="0">
              <a:spcBef>
                <a:spcPts val="0"/>
              </a:spcBef>
              <a:defRPr sz="1200"/>
            </a:lvl3pPr>
            <a:lvl4pPr rtl="0">
              <a:spcBef>
                <a:spcPts val="0"/>
              </a:spcBef>
              <a:defRPr sz="1200"/>
            </a:lvl4pPr>
            <a:lvl5pPr rtl="0">
              <a:spcBef>
                <a:spcPts val="0"/>
              </a:spcBef>
              <a:defRPr sz="1200"/>
            </a:lvl5pPr>
            <a:lvl6pPr rtl="0">
              <a:spcBef>
                <a:spcPts val="0"/>
              </a:spcBef>
              <a:defRPr sz="1200"/>
            </a:lvl6pPr>
            <a:lvl7pPr rtl="0">
              <a:spcBef>
                <a:spcPts val="0"/>
              </a:spcBef>
              <a:defRPr sz="1200"/>
            </a:lvl7pPr>
            <a:lvl8pPr rtl="0">
              <a:spcBef>
                <a:spcPts val="0"/>
              </a:spcBef>
              <a:defRPr sz="1200"/>
            </a:lvl8pPr>
            <a:lvl9pPr rtl="0">
              <a:spcBef>
                <a:spcPts val="0"/>
              </a:spcBef>
              <a:defRPr sz="1200"/>
            </a:lvl9pPr>
          </a:lstStyle>
          <a:p/>
        </p:txBody>
      </p:sp>
      <p:sp>
        <p:nvSpPr>
          <p:cNvPr id="36" name="Shape 36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365759" y="1200150"/>
            <a:ext cx="4041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200150"/>
            <a:ext cx="4040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indent="0" marL="0" rtl="0" algn="ctr">
              <a:spcBef>
                <a:spcPts val="0"/>
              </a:spcBef>
              <a:buFont typeface="Times New Roman"/>
              <a:buNone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marL="342900" rtl="0">
              <a:spcBef>
                <a:spcPts val="0"/>
              </a:spcBef>
              <a:buFont typeface="Times New Roman"/>
              <a:buNone/>
              <a:defRPr b="1" sz="1500"/>
            </a:lvl2pPr>
            <a:lvl3pPr indent="0" marL="685800" rtl="0">
              <a:spcBef>
                <a:spcPts val="0"/>
              </a:spcBef>
              <a:buFont typeface="Times New Roman"/>
              <a:buNone/>
              <a:defRPr b="1" sz="1400"/>
            </a:lvl3pPr>
            <a:lvl4pPr indent="0" marL="1028700" rtl="0">
              <a:spcBef>
                <a:spcPts val="0"/>
              </a:spcBef>
              <a:buFont typeface="Times New Roman"/>
              <a:buNone/>
              <a:defRPr b="1" sz="1200"/>
            </a:lvl4pPr>
            <a:lvl5pPr indent="0" marL="1371600" rtl="0">
              <a:spcBef>
                <a:spcPts val="0"/>
              </a:spcBef>
              <a:buFont typeface="Times New Roman"/>
              <a:buNone/>
              <a:defRPr b="1" sz="1200"/>
            </a:lvl5pPr>
            <a:lvl6pPr indent="0" marL="1714500" rtl="0">
              <a:spcBef>
                <a:spcPts val="0"/>
              </a:spcBef>
              <a:buFont typeface="Times New Roman"/>
              <a:buNone/>
              <a:defRPr b="1" sz="1200"/>
            </a:lvl6pPr>
            <a:lvl7pPr indent="0" marL="2057400" rtl="0">
              <a:spcBef>
                <a:spcPts val="0"/>
              </a:spcBef>
              <a:buFont typeface="Times New Roman"/>
              <a:buNone/>
              <a:defRPr b="1" sz="1200"/>
            </a:lvl7pPr>
            <a:lvl8pPr indent="0" marL="2400300" rtl="0">
              <a:spcBef>
                <a:spcPts val="0"/>
              </a:spcBef>
              <a:buFont typeface="Times New Roman"/>
              <a:buNone/>
              <a:defRPr b="1" sz="1200"/>
            </a:lvl8pPr>
            <a:lvl9pPr indent="0" marL="2743200" rtl="0">
              <a:spcBef>
                <a:spcPts val="0"/>
              </a:spcBef>
              <a:buFont typeface="Times New Roman"/>
              <a:buNone/>
              <a:defRPr b="1" sz="1200"/>
            </a:lvl9pPr>
          </a:lstStyle>
          <a:p/>
        </p:txBody>
      </p:sp>
      <p:sp>
        <p:nvSpPr>
          <p:cNvPr id="43" name="Shape 43"/>
          <p:cNvSpPr txBox="1"/>
          <p:nvPr>
            <p:ph idx="2" type="body"/>
          </p:nvPr>
        </p:nvSpPr>
        <p:spPr>
          <a:xfrm>
            <a:off x="4648200" y="1200150"/>
            <a:ext cx="404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indent="0" marL="0" rtl="0" algn="ctr">
              <a:spcBef>
                <a:spcPts val="0"/>
              </a:spcBef>
              <a:buFont typeface="Times New Roman"/>
              <a:buNone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marL="342900" rtl="0">
              <a:spcBef>
                <a:spcPts val="0"/>
              </a:spcBef>
              <a:buFont typeface="Times New Roman"/>
              <a:buNone/>
              <a:defRPr b="1" sz="1500"/>
            </a:lvl2pPr>
            <a:lvl3pPr indent="0" marL="685800" rtl="0">
              <a:spcBef>
                <a:spcPts val="0"/>
              </a:spcBef>
              <a:buFont typeface="Times New Roman"/>
              <a:buNone/>
              <a:defRPr b="1" sz="1400"/>
            </a:lvl3pPr>
            <a:lvl4pPr indent="0" marL="1028700" rtl="0">
              <a:spcBef>
                <a:spcPts val="0"/>
              </a:spcBef>
              <a:buFont typeface="Times New Roman"/>
              <a:buNone/>
              <a:defRPr b="1" sz="1200"/>
            </a:lvl4pPr>
            <a:lvl5pPr indent="0" marL="1371600" rtl="0">
              <a:spcBef>
                <a:spcPts val="0"/>
              </a:spcBef>
              <a:buFont typeface="Times New Roman"/>
              <a:buNone/>
              <a:defRPr b="1" sz="1200"/>
            </a:lvl5pPr>
            <a:lvl6pPr indent="0" marL="1714500" rtl="0">
              <a:spcBef>
                <a:spcPts val="0"/>
              </a:spcBef>
              <a:buFont typeface="Times New Roman"/>
              <a:buNone/>
              <a:defRPr b="1" sz="1200"/>
            </a:lvl6pPr>
            <a:lvl7pPr indent="0" marL="2057400" rtl="0">
              <a:spcBef>
                <a:spcPts val="0"/>
              </a:spcBef>
              <a:buFont typeface="Times New Roman"/>
              <a:buNone/>
              <a:defRPr b="1" sz="1200"/>
            </a:lvl7pPr>
            <a:lvl8pPr indent="0" marL="2400300" rtl="0">
              <a:spcBef>
                <a:spcPts val="0"/>
              </a:spcBef>
              <a:buFont typeface="Times New Roman"/>
              <a:buNone/>
              <a:defRPr b="1" sz="1200"/>
            </a:lvl8pPr>
            <a:lvl9pPr indent="0" marL="2743200" rtl="0">
              <a:spcBef>
                <a:spcPts val="0"/>
              </a:spcBef>
              <a:buFont typeface="Times New Roman"/>
              <a:buNone/>
              <a:defRPr b="1" sz="1200"/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  <p:sp>
        <p:nvSpPr>
          <p:cNvPr id="47" name="Shape 47"/>
          <p:cNvSpPr txBox="1"/>
          <p:nvPr>
            <p:ph idx="3" type="body"/>
          </p:nvPr>
        </p:nvSpPr>
        <p:spPr>
          <a:xfrm>
            <a:off x="457200" y="1659635"/>
            <a:ext cx="4041600" cy="29351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4" type="body"/>
          </p:nvPr>
        </p:nvSpPr>
        <p:spPr>
          <a:xfrm>
            <a:off x="4672583" y="1659636"/>
            <a:ext cx="4041600" cy="29348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7218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5907087" y="200025"/>
            <a:ext cx="3008399" cy="1571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 algn="ctr">
              <a:lnSpc>
                <a:spcPct val="100000"/>
              </a:lnSpc>
              <a:spcBef>
                <a:spcPts val="0"/>
              </a:spcBef>
              <a:defRPr b="0" sz="2100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719137" y="204788"/>
            <a:ext cx="4995900" cy="43898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rtl="0">
              <a:spcBef>
                <a:spcPts val="0"/>
              </a:spcBef>
              <a:defRPr sz="2400"/>
            </a:lvl1pPr>
            <a:lvl2pPr rtl="0">
              <a:spcBef>
                <a:spcPts val="0"/>
              </a:spcBef>
              <a:defRPr sz="2100"/>
            </a:lvl2pPr>
            <a:lvl3pPr rtl="0">
              <a:spcBef>
                <a:spcPts val="0"/>
              </a:spcBef>
              <a:defRPr sz="1800"/>
            </a:lvl3pPr>
            <a:lvl4pPr rtl="0">
              <a:spcBef>
                <a:spcPts val="0"/>
              </a:spcBef>
              <a:defRPr sz="1500"/>
            </a:lvl4pPr>
            <a:lvl5pPr rtl="0">
              <a:spcBef>
                <a:spcPts val="0"/>
              </a:spcBef>
              <a:defRPr sz="1500"/>
            </a:lvl5pPr>
            <a:lvl6pPr rtl="0">
              <a:spcBef>
                <a:spcPts val="0"/>
              </a:spcBef>
              <a:defRPr sz="1500"/>
            </a:lvl6pPr>
            <a:lvl7pPr rtl="0">
              <a:spcBef>
                <a:spcPts val="0"/>
              </a:spcBef>
              <a:defRPr sz="1500"/>
            </a:lvl7pPr>
            <a:lvl8pPr rtl="0">
              <a:spcBef>
                <a:spcPts val="0"/>
              </a:spcBef>
              <a:defRPr sz="1500"/>
            </a:lvl8pPr>
            <a:lvl9pPr rtl="0">
              <a:spcBef>
                <a:spcPts val="0"/>
              </a:spcBef>
              <a:defRPr sz="1500"/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5907087" y="1828800"/>
            <a:ext cx="3008399" cy="27656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0" marL="0" rtl="0" algn="ctr">
              <a:lnSpc>
                <a:spcPct val="125000"/>
              </a:lnSpc>
              <a:spcBef>
                <a:spcPts val="0"/>
              </a:spcBef>
              <a:buFont typeface="Times New Roman"/>
              <a:buNone/>
              <a:defRPr sz="1200"/>
            </a:lvl1pPr>
            <a:lvl2pPr indent="0" marL="342900" rtl="0">
              <a:spcBef>
                <a:spcPts val="0"/>
              </a:spcBef>
              <a:buFont typeface="Times New Roman"/>
              <a:buNone/>
              <a:defRPr sz="900"/>
            </a:lvl2pPr>
            <a:lvl3pPr indent="0" marL="685800" rtl="0">
              <a:spcBef>
                <a:spcPts val="0"/>
              </a:spcBef>
              <a:buFont typeface="Times New Roman"/>
              <a:buNone/>
              <a:defRPr sz="800"/>
            </a:lvl3pPr>
            <a:lvl4pPr indent="0" marL="1028700" rtl="0">
              <a:spcBef>
                <a:spcPts val="0"/>
              </a:spcBef>
              <a:buFont typeface="Times New Roman"/>
              <a:buNone/>
              <a:defRPr sz="700"/>
            </a:lvl4pPr>
            <a:lvl5pPr indent="0" marL="1371600" rtl="0">
              <a:spcBef>
                <a:spcPts val="0"/>
              </a:spcBef>
              <a:buFont typeface="Times New Roman"/>
              <a:buNone/>
              <a:defRPr sz="700"/>
            </a:lvl5pPr>
            <a:lvl6pPr indent="0" marL="1714500" rtl="0">
              <a:spcBef>
                <a:spcPts val="0"/>
              </a:spcBef>
              <a:buFont typeface="Times New Roman"/>
              <a:buNone/>
              <a:defRPr sz="700"/>
            </a:lvl6pPr>
            <a:lvl7pPr indent="0" marL="2057400" rtl="0">
              <a:spcBef>
                <a:spcPts val="0"/>
              </a:spcBef>
              <a:buFont typeface="Times New Roman"/>
              <a:buNone/>
              <a:defRPr sz="700"/>
            </a:lvl7pPr>
            <a:lvl8pPr indent="0" marL="2400300" rtl="0">
              <a:spcBef>
                <a:spcPts val="0"/>
              </a:spcBef>
              <a:buFont typeface="Times New Roman"/>
              <a:buNone/>
              <a:defRPr sz="700"/>
            </a:lvl8pPr>
            <a:lvl9pPr indent="0" marL="2743200" rtl="0">
              <a:spcBef>
                <a:spcPts val="0"/>
              </a:spcBef>
              <a:buFont typeface="Times New Roman"/>
              <a:buNone/>
              <a:defRPr sz="700"/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679576" y="171450"/>
            <a:ext cx="57117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 algn="ctr">
              <a:lnSpc>
                <a:spcPct val="100000"/>
              </a:lnSpc>
              <a:spcBef>
                <a:spcPts val="0"/>
              </a:spcBef>
              <a:defRPr b="0" sz="2100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508126" y="857250"/>
            <a:ext cx="6054599" cy="34059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68575" lIns="68575" rIns="68575" tIns="68575"/>
          <a:lstStyle>
            <a:lvl1pPr indent="0" marL="0" marR="0" rtl="0" algn="ctr">
              <a:spcBef>
                <a:spcPts val="0"/>
              </a:spcBef>
              <a:buClr>
                <a:schemeClr val="dk1"/>
              </a:buClr>
              <a:buSzPct val="45833"/>
              <a:buFont typeface="Questrial"/>
              <a:buNone/>
              <a:defRPr b="0" baseline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buClr>
                <a:schemeClr val="dk1"/>
              </a:buClr>
              <a:buSzPct val="52380"/>
              <a:buFont typeface="Times New Roman"/>
              <a:buNone/>
              <a:defRPr b="0" baseline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buClr>
                <a:schemeClr val="dk1"/>
              </a:buClr>
              <a:buSzPct val="61111"/>
              <a:buFont typeface="Times New Roman"/>
              <a:buNone/>
              <a:defRPr b="0" baseline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buClr>
                <a:schemeClr val="dk1"/>
              </a:buClr>
              <a:buSzPct val="73333"/>
              <a:buFont typeface="Times New Roman"/>
              <a:buNone/>
              <a:defRPr b="0" baseline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679576" y="4357687"/>
            <a:ext cx="5711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0" marL="0" rtl="0" algn="ctr">
              <a:spcBef>
                <a:spcPts val="0"/>
              </a:spcBef>
              <a:buFont typeface="Times New Roman"/>
              <a:buNone/>
              <a:defRPr sz="1200"/>
            </a:lvl1pPr>
            <a:lvl2pPr indent="0" marL="342900" rtl="0">
              <a:spcBef>
                <a:spcPts val="0"/>
              </a:spcBef>
              <a:buFont typeface="Times New Roman"/>
              <a:buNone/>
              <a:defRPr sz="900"/>
            </a:lvl2pPr>
            <a:lvl3pPr indent="0" marL="685800" rtl="0">
              <a:spcBef>
                <a:spcPts val="0"/>
              </a:spcBef>
              <a:buFont typeface="Times New Roman"/>
              <a:buNone/>
              <a:defRPr sz="800"/>
            </a:lvl3pPr>
            <a:lvl4pPr indent="0" marL="1028700" rtl="0">
              <a:spcBef>
                <a:spcPts val="0"/>
              </a:spcBef>
              <a:buFont typeface="Times New Roman"/>
              <a:buNone/>
              <a:defRPr sz="700"/>
            </a:lvl4pPr>
            <a:lvl5pPr indent="0" marL="1371600" rtl="0">
              <a:spcBef>
                <a:spcPts val="0"/>
              </a:spcBef>
              <a:buFont typeface="Times New Roman"/>
              <a:buNone/>
              <a:defRPr sz="700"/>
            </a:lvl5pPr>
            <a:lvl6pPr indent="0" marL="1714500" rtl="0">
              <a:spcBef>
                <a:spcPts val="0"/>
              </a:spcBef>
              <a:buFont typeface="Times New Roman"/>
              <a:buNone/>
              <a:defRPr sz="700"/>
            </a:lvl6pPr>
            <a:lvl7pPr indent="0" marL="2057400" rtl="0">
              <a:spcBef>
                <a:spcPts val="0"/>
              </a:spcBef>
              <a:buFont typeface="Times New Roman"/>
              <a:buNone/>
              <a:defRPr sz="700"/>
            </a:lvl7pPr>
            <a:lvl8pPr indent="0" marL="2400300" rtl="0">
              <a:spcBef>
                <a:spcPts val="0"/>
              </a:spcBef>
              <a:buFont typeface="Times New Roman"/>
              <a:buNone/>
              <a:defRPr sz="700"/>
            </a:lvl8pPr>
            <a:lvl9pPr indent="0" marL="2743200" rtl="0">
              <a:spcBef>
                <a:spcPts val="0"/>
              </a:spcBef>
              <a:buFont typeface="Times New Roman"/>
              <a:buNone/>
              <a:defRPr sz="700"/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874749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5463749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1272750" y="-609570"/>
            <a:ext cx="4388700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rtl="0" algn="l">
              <a:spcBef>
                <a:spcPts val="200"/>
              </a:spcBef>
              <a:buClr>
                <a:schemeClr val="dk1"/>
              </a:buClr>
              <a:buFont typeface="Courier New"/>
              <a:buChar char="o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rtl="0" algn="l">
              <a:spcBef>
                <a:spcPts val="200"/>
              </a:spcBef>
              <a:buClr>
                <a:schemeClr val="dk1"/>
              </a:buClr>
              <a:buFont typeface="Arial"/>
              <a:buChar char="•"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87" name="Shape 8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34275" lIns="20575" rIns="34275" tIns="34275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rgbClr val="ECEAEA"/>
            </a:gs>
            <a:gs pos="50000">
              <a:srgbClr val="ECEAEA"/>
            </a:gs>
            <a:gs pos="76000">
              <a:srgbClr val="DFDDDD"/>
            </a:gs>
            <a:gs pos="92000">
              <a:srgbClr val="C6C6C6"/>
            </a:gs>
            <a:gs pos="100000">
              <a:srgbClr val="C6C6C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/>
          <p:nvPr>
            <p:ph idx="10" type="dt"/>
          </p:nvPr>
        </p:nvSpPr>
        <p:spPr>
          <a:xfrm>
            <a:off x="6363347" y="4767263"/>
            <a:ext cx="2085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r">
              <a:spcBef>
                <a:spcPts val="0"/>
              </a:spcBef>
              <a:buSzPct val="122222"/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1" type="ftr"/>
          </p:nvPr>
        </p:nvSpPr>
        <p:spPr>
          <a:xfrm>
            <a:off x="659165" y="4767263"/>
            <a:ext cx="2847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rIns="68575" tIns="68575"/>
          <a:lstStyle>
            <a:lvl1pPr indent="0" marL="0" marR="0" rtl="0" algn="l">
              <a:spcBef>
                <a:spcPts val="0"/>
              </a:spcBef>
              <a:buSzPct val="122222"/>
              <a:defRPr b="0" baseline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3429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marL="6858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marL="10287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marL="13716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marL="17145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marL="20574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marL="24003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marL="2743200" marR="0" rtl="0" algn="l">
              <a:spcBef>
                <a:spcPts val="0"/>
              </a:spcBef>
              <a:buSzPct val="78571"/>
              <a:defRPr b="0" baseline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2" type="sldNum"/>
          </p:nvPr>
        </p:nvSpPr>
        <p:spPr>
          <a:xfrm>
            <a:off x="8543278" y="4767263"/>
            <a:ext cx="561899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20575" rIns="34275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</a:p>
        </p:txBody>
      </p:sp>
      <p:sp>
        <p:nvSpPr>
          <p:cNvPr id="8" name="Shape 8"/>
          <p:cNvSpPr/>
          <p:nvPr/>
        </p:nvSpPr>
        <p:spPr>
          <a:xfrm>
            <a:off x="8457760" y="4874537"/>
            <a:ext cx="84900" cy="63599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Shape 9"/>
          <p:cNvSpPr/>
          <p:nvPr/>
        </p:nvSpPr>
        <p:spPr>
          <a:xfrm>
            <a:off x="569119" y="4874537"/>
            <a:ext cx="84900" cy="63599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Shape 1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/>
          <a:lstStyle>
            <a:lvl1pPr indent="-139700" marL="254000" marR="0" rtl="0" algn="l">
              <a:spcBef>
                <a:spcPts val="400"/>
              </a:spcBef>
              <a:buClr>
                <a:schemeClr val="dk1"/>
              </a:buClr>
              <a:buSzPct val="61111"/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39700" marL="5588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Courier New"/>
              <a:buChar char="o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101600" marL="8636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Arial"/>
              <a:buChar char="•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101600" marL="12065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Courier New"/>
              <a:buChar char="o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101600" marL="15494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Arial"/>
              <a:buChar char="•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101600" marL="18923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Courier New"/>
              <a:buChar char="o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101600" marL="22352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Arial"/>
              <a:buChar char="•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101600" marL="25781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Courier New"/>
              <a:buChar char="o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101600" marL="2921000" marR="0" rtl="0" algn="l">
              <a:spcBef>
                <a:spcPts val="200"/>
              </a:spcBef>
              <a:buClr>
                <a:schemeClr val="dk1"/>
              </a:buClr>
              <a:buSzPct val="91666"/>
              <a:buFont typeface="Arial"/>
              <a:buChar char="•"/>
              <a:defRPr b="0" baseline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/>
          <a:lstStyle>
            <a:lvl1pPr indent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30555"/>
              <a:buFont typeface="Questrial"/>
              <a:buNone/>
              <a:defRPr b="0" baseline="0" i="0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marL="0" marR="0" rtl="0" algn="l">
              <a:spcBef>
                <a:spcPts val="0"/>
              </a:spcBef>
              <a:buSzPct val="100000"/>
              <a:defRPr sz="1100"/>
            </a:lvl2pPr>
            <a:lvl3pPr indent="0" marL="0" marR="0" rtl="0" algn="l">
              <a:spcBef>
                <a:spcPts val="0"/>
              </a:spcBef>
              <a:buSzPct val="100000"/>
              <a:defRPr sz="1100"/>
            </a:lvl3pPr>
            <a:lvl4pPr indent="0" marL="0" marR="0" rtl="0" algn="l">
              <a:spcBef>
                <a:spcPts val="0"/>
              </a:spcBef>
              <a:buSzPct val="100000"/>
              <a:defRPr sz="1100"/>
            </a:lvl4pPr>
            <a:lvl5pPr indent="0" marL="0" marR="0" rtl="0" algn="l">
              <a:spcBef>
                <a:spcPts val="0"/>
              </a:spcBef>
              <a:buSzPct val="100000"/>
              <a:defRPr sz="1100"/>
            </a:lvl5pPr>
            <a:lvl6pPr indent="0" marL="0" marR="0" rtl="0" algn="l">
              <a:spcBef>
                <a:spcPts val="0"/>
              </a:spcBef>
              <a:buSzPct val="100000"/>
              <a:defRPr sz="1100"/>
            </a:lvl6pPr>
            <a:lvl7pPr indent="0" marL="0" marR="0" rtl="0" algn="l">
              <a:spcBef>
                <a:spcPts val="0"/>
              </a:spcBef>
              <a:buSzPct val="100000"/>
              <a:defRPr sz="1100"/>
            </a:lvl7pPr>
            <a:lvl8pPr indent="0" marL="0" marR="0" rtl="0" algn="l">
              <a:spcBef>
                <a:spcPts val="0"/>
              </a:spcBef>
              <a:buSzPct val="100000"/>
              <a:defRPr sz="1100"/>
            </a:lvl8pPr>
            <a:lvl9pPr indent="0" marL="0" marR="0" rtl="0" algn="l">
              <a:spcBef>
                <a:spcPts val="0"/>
              </a:spcBef>
              <a:buSzPct val="100000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Relationship Id="rId5" Type="http://schemas.openxmlformats.org/officeDocument/2006/relationships/image" Target="../media/image0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0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0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0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0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0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0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idx="1" type="subTitle"/>
          </p:nvPr>
        </p:nvSpPr>
        <p:spPr>
          <a:xfrm>
            <a:off x="1371600" y="3714750"/>
            <a:ext cx="6400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CECS 575</a:t>
            </a:r>
          </a:p>
        </p:txBody>
      </p:sp>
      <p:sp>
        <p:nvSpPr>
          <p:cNvPr id="93" name="Shape 93"/>
          <p:cNvSpPr txBox="1"/>
          <p:nvPr>
            <p:ph type="ctrTitle"/>
          </p:nvPr>
        </p:nvSpPr>
        <p:spPr>
          <a:xfrm>
            <a:off x="685800" y="457200"/>
            <a:ext cx="77724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41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Advanced Object Oriented Analysis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Agenda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60350" lvl="0" marL="2540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Michael Williams – Infrastructure and Schema</a:t>
            </a:r>
          </a:p>
          <a:p>
            <a:pPr indent="-26035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James Le – Seed Data Collection and Population</a:t>
            </a:r>
          </a:p>
          <a:p>
            <a:pPr indent="-26035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 Groarke – Sorting, Searching, and Filtering</a:t>
            </a:r>
          </a:p>
          <a:p>
            <a:pPr indent="-26035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Palande - Monetization through Product Adverti</a:t>
            </a:r>
            <a:r>
              <a:rPr lang="en" sz="3100"/>
              <a:t>s</a:t>
            </a:r>
            <a:r>
              <a:rPr b="0" baseline="0" i="0" lang="en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AP</a:t>
            </a:r>
            <a:r>
              <a:rPr lang="en" sz="3100"/>
              <a:t>I and Image Upload Feature</a:t>
            </a:r>
          </a:p>
          <a:p>
            <a:pPr indent="-6350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Infrastructure and Schema Portion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Game Database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Asp.NET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First Entity Framework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Expressions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Internet Game Database</a:t>
            </a:r>
          </a:p>
        </p:txBody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ALL games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web application that can modify itself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hub for user and critic reviews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with locating and purchasing new games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Asp.NET</a:t>
            </a: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runs on a server to generate web page outputs</a:t>
            </a:r>
          </a:p>
          <a:p>
            <a:pPr indent="-247650" lvl="0" marL="254000" marR="0" rtl="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 with .NET Common Language Runtime</a:t>
            </a:r>
          </a:p>
          <a:p>
            <a:pPr indent="0" lvl="0" marL="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Other Benefits of Asp.NET</a:t>
            </a:r>
          </a:p>
        </p:txBody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 of client and server functionality with .aspx and .cs partial classes</a:t>
            </a:r>
          </a:p>
          <a:p>
            <a:pPr indent="-254000" lvl="0" marL="254000" marR="0" rtl="0" algn="l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 server controls for data access</a:t>
            </a:r>
          </a:p>
          <a:p>
            <a:pPr indent="-254000" lvl="0" marL="254000" marR="0" rtl="0" algn="l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web controls with data binding api</a:t>
            </a:r>
          </a:p>
          <a:p>
            <a:pPr indent="-114300" lvl="0" marL="254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25400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Code First Entity Framework</a:t>
            </a:r>
          </a:p>
        </p:txBody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“Plain old C# objects” create the schema and allow CRUD operations through dot syntax</a:t>
            </a:r>
          </a:p>
          <a:p>
            <a:pPr indent="-254000" lvl="0" marL="254000" marR="0" rtl="0" algn="l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dependencies on complicated queries contained in literal strings</a:t>
            </a:r>
          </a:p>
          <a:p>
            <a:pPr indent="-114300" lvl="0" marL="254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25400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Code First Entity Framework</a:t>
            </a:r>
            <a:b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Example</a:t>
            </a:r>
          </a:p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annotated model classes</a:t>
            </a:r>
          </a:p>
          <a:p>
            <a:pPr indent="-254000" lvl="0" marL="254000" marR="0" rtl="0" algn="l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One-to-One, One-to-Many, and Many-to-Many relationships “baked in” through member fields</a:t>
            </a:r>
          </a:p>
          <a:p>
            <a:pPr indent="-254000" lvl="0" marL="254000" marR="0" rtl="0" algn="l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DBSet&lt;T&gt; generate Tables of models</a:t>
            </a:r>
          </a:p>
          <a:p>
            <a:pPr indent="-63500" lvl="0" marL="254000" marR="0" rtl="0" algn="l">
              <a:spcBef>
                <a:spcPts val="6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54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25400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Code First Entity Framework</a:t>
            </a:r>
            <a:b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Illustrated</a:t>
            </a:r>
          </a:p>
        </p:txBody>
      </p:sp>
      <p:pic>
        <p:nvPicPr>
          <p:cNvPr id="141" name="Shape 1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3712" y="1644698"/>
            <a:ext cx="3290699" cy="276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Shape 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00150"/>
            <a:ext cx="4166400" cy="26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Shape 1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2248" y="1713006"/>
            <a:ext cx="3734699" cy="333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Shape 144"/>
          <p:cNvSpPr/>
          <p:nvPr/>
        </p:nvSpPr>
        <p:spPr>
          <a:xfrm>
            <a:off x="4514127" y="1238523"/>
            <a:ext cx="1675499" cy="680099"/>
          </a:xfrm>
          <a:prstGeom prst="wedgeRectCallout">
            <a:avLst>
              <a:gd fmla="val 89789" name="adj1"/>
              <a:gd fmla="val 131174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4514127" y="1238522"/>
            <a:ext cx="1675499" cy="680099"/>
          </a:xfrm>
          <a:prstGeom prst="wedgeRectCallout">
            <a:avLst>
              <a:gd fmla="val -98553" name="adj1"/>
              <a:gd fmla="val 327719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POCO translated into fully functional database 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Delegates and Lambda Expressions</a:t>
            </a:r>
          </a:p>
        </p:txBody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54000" lvl="0" marL="2540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 allows for pointers to functions</a:t>
            </a:r>
          </a:p>
          <a:p>
            <a:pPr indent="-25400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can be a delegate type or a lambda expression</a:t>
            </a:r>
          </a:p>
          <a:p>
            <a:pPr indent="-25400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depend on the signature of function</a:t>
            </a:r>
          </a:p>
          <a:p>
            <a:pPr indent="-25400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commonly used with standard query operators</a:t>
            </a:r>
          </a:p>
          <a:p>
            <a:pPr indent="-254000" lvl="0" marL="254000" marR="0" rtl="0" algn="l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=&gt; x * x; (x,y) =&gt; {x == y};</a:t>
            </a:r>
          </a:p>
          <a:p>
            <a:pPr indent="-114300" lvl="0" marL="254000" marR="0" rtl="0" algn="l">
              <a:lnSpc>
                <a:spcPct val="90000"/>
              </a:lnSpc>
              <a:spcBef>
                <a:spcPts val="4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254000" marR="0" rtl="0" algn="l">
              <a:lnSpc>
                <a:spcPct val="90000"/>
              </a:lnSpc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Demonstration</a:t>
            </a:r>
          </a:p>
        </p:txBody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Create, Read, Update, &amp; Delete!</a:t>
            </a:r>
          </a:p>
          <a:p>
            <a:pPr indent="0" lvl="0" marL="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25400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/>
          <p:nvPr>
            <p:ph idx="1" type="subTitle"/>
          </p:nvPr>
        </p:nvSpPr>
        <p:spPr>
          <a:xfrm>
            <a:off x="1371600" y="2775050"/>
            <a:ext cx="6400799" cy="1853999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indent="-342900" lvl="0" marL="457200" rtl="0" algn="l">
              <a:spcBef>
                <a:spcPts val="0"/>
              </a:spcBef>
              <a:buFont typeface="Arial"/>
              <a:buChar char="●"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Shape 163"/>
          <p:cNvSpPr txBox="1"/>
          <p:nvPr>
            <p:ph type="ctrTitle"/>
          </p:nvPr>
        </p:nvSpPr>
        <p:spPr>
          <a:xfrm>
            <a:off x="685800" y="457200"/>
            <a:ext cx="7772400" cy="12380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None/>
            </a:pPr>
            <a:r>
              <a:rPr lang="en" sz="3100">
                <a:solidFill>
                  <a:schemeClr val="dk1"/>
                </a:solidFill>
              </a:rPr>
              <a:t>Seed Data Collection and Population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idx="1" type="subTitle"/>
          </p:nvPr>
        </p:nvSpPr>
        <p:spPr>
          <a:xfrm>
            <a:off x="1371600" y="2022550"/>
            <a:ext cx="6400799" cy="26067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indent="-342900" lvl="0" marL="457200" rtl="0" algn="l">
              <a:spcBef>
                <a:spcPts val="0"/>
              </a:spcBef>
              <a:buSzPct val="1000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Need actual content for our site in order to attract users.</a:t>
            </a:r>
          </a:p>
          <a:p>
            <a:pPr indent="-342900" lvl="0" marL="457200" rtl="0" algn="l">
              <a:spcBef>
                <a:spcPts val="0"/>
              </a:spcBef>
              <a:buSzPct val="1000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Needed a way to gather information quickly without doing it manually.</a:t>
            </a:r>
          </a:p>
          <a:p>
            <a:pPr indent="-317500" lvl="1" marL="914400" rtl="0" algn="l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take a hours to days.</a:t>
            </a: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is a big place.</a:t>
            </a:r>
          </a:p>
        </p:txBody>
      </p:sp>
      <p:sp>
        <p:nvSpPr>
          <p:cNvPr id="169" name="Shape 169"/>
          <p:cNvSpPr txBox="1"/>
          <p:nvPr>
            <p:ph type="ctrTitle"/>
          </p:nvPr>
        </p:nvSpPr>
        <p:spPr>
          <a:xfrm>
            <a:off x="685800" y="457200"/>
            <a:ext cx="7772400" cy="1180200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3600"/>
              <a:t>A Site Needs Content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>
            <p:ph type="ctr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rtl="0" algn="l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rPr lang="en" sz="3600"/>
              <a:t>WebCrawler</a:t>
            </a:r>
          </a:p>
        </p:txBody>
      </p:sp>
      <p:sp>
        <p:nvSpPr>
          <p:cNvPr id="175" name="Shape 175"/>
          <p:cNvSpPr txBox="1"/>
          <p:nvPr>
            <p:ph idx="1" type="subTitle"/>
          </p:nvPr>
        </p:nvSpPr>
        <p:spPr>
          <a:xfrm>
            <a:off x="1371600" y="1551050"/>
            <a:ext cx="6400799" cy="30780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sz="3000"/>
              <a:t>Its name is igdb.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3000"/>
          </a:p>
          <a:p>
            <a:pPr indent="-342900" lvl="0" marL="457200" rtl="0" algn="l">
              <a:spcBef>
                <a:spcPts val="0"/>
              </a:spcBef>
              <a:buSzPct val="100000"/>
              <a:buChar char="●"/>
            </a:pPr>
            <a:r>
              <a:rPr lang="en"/>
              <a:t>This bot was used to gather the content and store it into the database.</a:t>
            </a:r>
          </a:p>
          <a:p>
            <a:pPr indent="-228600" lvl="0" marL="457200" rtl="0" algn="l">
              <a:spcBef>
                <a:spcPts val="0"/>
              </a:spcBef>
              <a:buChar char="●"/>
            </a:pPr>
            <a:r>
              <a:rPr lang="en"/>
              <a:t>Can tailor the bot to scrape information about games from many websites at once.</a:t>
            </a:r>
          </a:p>
          <a:p>
            <a:pPr indent="-228600" lvl="0" marL="457200" rtl="0" algn="l">
              <a:spcBef>
                <a:spcPts val="0"/>
              </a:spcBef>
              <a:buChar char="●"/>
            </a:pPr>
            <a:r>
              <a:rPr lang="en"/>
              <a:t>Information collected: Name, Rating, Description, Genre, Platform, and Picture of the game.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Scrapy</a:t>
            </a:r>
          </a:p>
        </p:txBody>
      </p:sp>
      <p:sp>
        <p:nvSpPr>
          <p:cNvPr id="181" name="Shape 18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Scrapy 1.0.3 lib. for python 2.7.1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Allows you to build web crawlers based on a framework created by Scrapy.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This allows you to extract information from websites for use in many things. 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Retrieval of individual information from websites is by elements.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Used xpath to define which elements to extract from.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Ex. Where asdf is my html source to extract info from</a:t>
            </a:r>
          </a:p>
          <a:p>
            <a:pPr indent="0" mar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0" mar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0" mar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Used to extract url links from a table.</a:t>
            </a:r>
          </a:p>
        </p:txBody>
      </p:sp>
      <p:pic>
        <p:nvPicPr>
          <p:cNvPr id="182" name="Shape 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50" y="3100549"/>
            <a:ext cx="8367100" cy="6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Information is stored structurally</a:t>
            </a:r>
          </a:p>
        </p:txBody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Information is stored inside an item object.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Each item has metadata stored in a field object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Can specify a type of pipeline on the item object.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The Pipelines class is called to do a specific action on an item object.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One example used: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Images pipeline is used to extract and download images into our file system.</a:t>
            </a:r>
          </a:p>
        </p:txBody>
      </p:sp>
      <p:pic>
        <p:nvPicPr>
          <p:cNvPr id="189" name="Shape 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525" y="1893675"/>
            <a:ext cx="1963100" cy="16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Check correct url to parse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Scrapy uses the parse() function to start scraping a page which than you can request a new page to parse by doing a Request and Response than specifying the information to extract.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25" y="2287575"/>
            <a:ext cx="4880549" cy="114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Parsing additional pages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03" name="Shape 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5026"/>
            <a:ext cx="9144000" cy="24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Finally scraping the information</a:t>
            </a:r>
          </a:p>
        </p:txBody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10" name="Shape 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0220"/>
            <a:ext cx="9143998" cy="264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Simple Cmd</a:t>
            </a:r>
          </a:p>
        </p:txBody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scrapy crawl igdb -o myxml.xml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This commands allows you to store information from each individual item object into an xml file.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Supports JSON, CSV and other file formats too.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Example Output: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217" name="Shape 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47874"/>
            <a:ext cx="9144000" cy="172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b" bIns="68575" lIns="68575" rIns="68575" tIns="6857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Creating the game objects</a:t>
            </a:r>
          </a:p>
        </p:txBody>
      </p:sp>
      <p:sp>
        <p:nvSpPr>
          <p:cNvPr id="223" name="Shape 223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68575" lIns="68575" rIns="68575" tIns="6857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Read game information from the xml file.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Reader grabs information from each game item element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Checks if game already exists.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Checks for different platforms that the game is on.</a:t>
            </a:r>
          </a:p>
          <a:p>
            <a:pPr indent="-228600" lvl="1" marL="914400" rtl="0">
              <a:spcBef>
                <a:spcPts val="0"/>
              </a:spcBef>
              <a:buSzPct val="100000"/>
            </a:pPr>
            <a:r>
              <a:rPr lang="en" sz="1400"/>
              <a:t>While also creating new Genre and Platform Objects if it doesn’t already exist in our system.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 sz="1400"/>
              <a:t>Creates a new game object based on extracted information.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Objects are then inserted into the database.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type="ctrTitle"/>
          </p:nvPr>
        </p:nvSpPr>
        <p:spPr>
          <a:xfrm>
            <a:off x="233781" y="558431"/>
            <a:ext cx="6390449" cy="153944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&amp; Sorting</a:t>
            </a:r>
          </a:p>
        </p:txBody>
      </p:sp>
      <p:sp>
        <p:nvSpPr>
          <p:cNvPr id="229" name="Shape 229"/>
          <p:cNvSpPr txBox="1"/>
          <p:nvPr>
            <p:ph idx="1" type="subTitle"/>
          </p:nvPr>
        </p:nvSpPr>
        <p:spPr>
          <a:xfrm>
            <a:off x="233775" y="2125593"/>
            <a:ext cx="6390449" cy="59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Robert Groarke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 – Games.aspx</a:t>
            </a:r>
          </a:p>
        </p:txBody>
      </p:sp>
      <p:pic>
        <p:nvPicPr>
          <p:cNvPr id="235" name="Shape 2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604" y="1371600"/>
            <a:ext cx="7522368" cy="7051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Shape 236"/>
          <p:cNvSpPr txBox="1"/>
          <p:nvPr/>
        </p:nvSpPr>
        <p:spPr>
          <a:xfrm>
            <a:off x="629841" y="2250582"/>
            <a:ext cx="7794377" cy="28204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09550" lvl="0" marL="2159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 is another key feature of our product, as it allows for a user to be able to reorder the search results so that they can find the game that they are looking for.</a:t>
            </a:r>
          </a:p>
          <a:p>
            <a:pPr indent="-20955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arrows flip direction when clicked, results are reordered on click.</a:t>
            </a:r>
          </a:p>
          <a:p>
            <a:pPr indent="-20955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Clicking a sort button calls a method which modifies the orderby clause of the SQL query which defines the items displayed by the listview.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 Example – Games.aspx</a:t>
            </a:r>
          </a:p>
        </p:txBody>
      </p:sp>
      <p:pic>
        <p:nvPicPr>
          <p:cNvPr id="242" name="Shape 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087404"/>
            <a:ext cx="6509465" cy="186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Shape 2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3095696"/>
            <a:ext cx="6509465" cy="18739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Shape 244"/>
          <p:cNvSpPr/>
          <p:nvPr/>
        </p:nvSpPr>
        <p:spPr>
          <a:xfrm>
            <a:off x="1255690" y="1087404"/>
            <a:ext cx="492616" cy="180611"/>
          </a:xfrm>
          <a:prstGeom prst="rect">
            <a:avLst/>
          </a:prstGeom>
          <a:noFill/>
          <a:ln cap="flat" cmpd="sng" w="57150">
            <a:solidFill>
              <a:srgbClr val="00B05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Shape 245"/>
          <p:cNvSpPr/>
          <p:nvPr/>
        </p:nvSpPr>
        <p:spPr>
          <a:xfrm>
            <a:off x="1255690" y="3095696"/>
            <a:ext cx="492616" cy="180611"/>
          </a:xfrm>
          <a:prstGeom prst="rect">
            <a:avLst/>
          </a:prstGeom>
          <a:noFill/>
          <a:ln cap="flat" cmpd="sng" w="57150">
            <a:solidFill>
              <a:srgbClr val="00B05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/>
          <p:nvPr>
            <p:ph type="title"/>
          </p:nvPr>
        </p:nvSpPr>
        <p:spPr>
          <a:xfrm>
            <a:off x="629841" y="324364"/>
            <a:ext cx="7728828" cy="6394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– Games.aspx</a:t>
            </a:r>
          </a:p>
        </p:txBody>
      </p:sp>
      <p:pic>
        <p:nvPicPr>
          <p:cNvPr id="251" name="Shape 2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316" y="963826"/>
            <a:ext cx="8360630" cy="127709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Shape 252"/>
          <p:cNvSpPr txBox="1"/>
          <p:nvPr>
            <p:ph idx="2" type="body"/>
          </p:nvPr>
        </p:nvSpPr>
        <p:spPr>
          <a:xfrm>
            <a:off x="629841" y="2434107"/>
            <a:ext cx="7794377" cy="24920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15900" lvl="0" marL="2159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are a key feature of our product, as they allow for a user to be able to refine the results which are returned by the IGDB when they are searching for a Game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filter filters results by GameName of Game objects within the database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 dropdown filters results by Genre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genre dropdown is dynamically populated by all of the unique Genre objects which are within the database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checkbox list filters results by platform(s)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checkbox list is dynamically populated by all of the unique Platform objects within the database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/>
          <p:nvPr>
            <p:ph type="title"/>
          </p:nvPr>
        </p:nvSpPr>
        <p:spPr>
          <a:xfrm>
            <a:off x="629841" y="324364"/>
            <a:ext cx="7728828" cy="6394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Filters: Building a Param String – Games.aspx</a:t>
            </a:r>
          </a:p>
        </p:txBody>
      </p:sp>
      <p:sp>
        <p:nvSpPr>
          <p:cNvPr id="258" name="Shape 258"/>
          <p:cNvSpPr txBox="1"/>
          <p:nvPr>
            <p:ph idx="1" type="body"/>
          </p:nvPr>
        </p:nvSpPr>
        <p:spPr>
          <a:xfrm>
            <a:off x="629841" y="2237061"/>
            <a:ext cx="7794377" cy="19224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215900" lvl="0" marL="2159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‘Apply Filter’ button is clicked, the click event triggers a method which creates a Param String from the selections within the filter bar.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Param String is assembled by properties and the corresponding specified IDs, separated by ampersands.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syntax for a Param String is </a:t>
            </a:r>
            <a:r>
              <a:rPr b="0" baseline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?property=value,</a:t>
            </a:r>
          </a:p>
          <a:p>
            <a:pPr indent="-215900" lvl="0" marL="2159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Param String is appended to the Games.aspx url and the page is refreshed.</a:t>
            </a:r>
          </a:p>
        </p:txBody>
      </p:sp>
      <p:pic>
        <p:nvPicPr>
          <p:cNvPr id="259" name="Shape 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" y="4265807"/>
            <a:ext cx="5666251" cy="7611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Shape 260"/>
          <p:cNvGrpSpPr/>
          <p:nvPr/>
        </p:nvGrpSpPr>
        <p:grpSpPr>
          <a:xfrm>
            <a:off x="629840" y="1070075"/>
            <a:ext cx="7550943" cy="1085850"/>
            <a:chOff x="839787" y="1426767"/>
            <a:chExt cx="10067924" cy="1447800"/>
          </a:xfrm>
        </p:grpSpPr>
        <p:pic>
          <p:nvPicPr>
            <p:cNvPr id="261" name="Shape 2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9787" y="1426767"/>
              <a:ext cx="10067924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Shape 262"/>
            <p:cNvSpPr/>
            <p:nvPr/>
          </p:nvSpPr>
          <p:spPr>
            <a:xfrm>
              <a:off x="9736428" y="1712890"/>
              <a:ext cx="862883" cy="347728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Shape 263"/>
            <p:cNvSpPr/>
            <p:nvPr/>
          </p:nvSpPr>
          <p:spPr>
            <a:xfrm>
              <a:off x="4230923" y="1764405"/>
              <a:ext cx="425002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Shape 264"/>
            <p:cNvSpPr/>
            <p:nvPr/>
          </p:nvSpPr>
          <p:spPr>
            <a:xfrm>
              <a:off x="4230923" y="2217531"/>
              <a:ext cx="585775" cy="283230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Shape 265"/>
            <p:cNvSpPr/>
            <p:nvPr/>
          </p:nvSpPr>
          <p:spPr>
            <a:xfrm>
              <a:off x="4230923" y="2467378"/>
              <a:ext cx="585775" cy="26552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Shape 266"/>
            <p:cNvSpPr/>
            <p:nvPr/>
          </p:nvSpPr>
          <p:spPr>
            <a:xfrm>
              <a:off x="6532914" y="2011467"/>
              <a:ext cx="425002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Shape 267"/>
            <p:cNvSpPr/>
            <p:nvPr/>
          </p:nvSpPr>
          <p:spPr>
            <a:xfrm>
              <a:off x="7376695" y="2011467"/>
              <a:ext cx="1110482" cy="240409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Shape 268"/>
            <p:cNvSpPr/>
            <p:nvPr/>
          </p:nvSpPr>
          <p:spPr>
            <a:xfrm>
              <a:off x="882511" y="1764405"/>
              <a:ext cx="1615991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the page is reloaded – Games.aspx</a:t>
            </a:r>
          </a:p>
        </p:txBody>
      </p:sp>
      <p:sp>
        <p:nvSpPr>
          <p:cNvPr id="274" name="Shape 274"/>
          <p:cNvSpPr txBox="1"/>
          <p:nvPr>
            <p:ph idx="1" type="body"/>
          </p:nvPr>
        </p:nvSpPr>
        <p:spPr>
          <a:xfrm>
            <a:off x="628650" y="3660819"/>
            <a:ext cx="7886700" cy="13233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7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list of games is returned which meets the requirements specified by the filter.</a:t>
            </a:r>
          </a:p>
          <a:p>
            <a:pPr indent="-171450" lvl="0" marL="177800" marR="0" rtl="0" algn="l">
              <a:lnSpc>
                <a:spcPct val="7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</a:t>
            </a:r>
            <a:r>
              <a:rPr b="0" baseline="0" i="1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Halo 5: Guardians </a:t>
            </a: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returned, as it contains the word ‘Halo’ in its title, its Genre is Action, and its Platform is Xbox One, which is one of the platforms specified by the filter. </a:t>
            </a:r>
          </a:p>
        </p:txBody>
      </p:sp>
      <p:pic>
        <p:nvPicPr>
          <p:cNvPr id="275" name="Shape 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061903"/>
            <a:ext cx="7608093" cy="235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Asynchronous Load: Filling Filter Fields – Games.aspx</a:t>
            </a:r>
          </a:p>
        </p:txBody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x="628650" y="2492061"/>
            <a:ext cx="7886700" cy="2140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7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the page has been reloaded, the fields defining the filters must be re-assigned.</a:t>
            </a:r>
          </a:p>
          <a:p>
            <a:pPr indent="-171450" lvl="0" marL="177800" marR="0" rtl="0" algn="l">
              <a:lnSpc>
                <a:spcPct val="7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 which re-assigns the values of the fields must fire after the page has loaded because the checkboxes and dropdown menu are not populated until that point.</a:t>
            </a:r>
          </a:p>
          <a:p>
            <a:pPr indent="-171450" lvl="0" marL="177800" marR="0" rtl="0" algn="l">
              <a:lnSpc>
                <a:spcPct val="7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 this method must be executed asynchronously, it is called by the GetGames() method, but must wait until the page_load has finished execution before it is invoked.</a:t>
            </a:r>
          </a:p>
          <a:p>
            <a:pPr indent="-50800" lvl="0" marL="177800" marR="0" rtl="0" algn="l">
              <a:lnSpc>
                <a:spcPct val="70000"/>
              </a:lnSpc>
              <a:spcBef>
                <a:spcPts val="80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Shape 282"/>
          <p:cNvGrpSpPr/>
          <p:nvPr/>
        </p:nvGrpSpPr>
        <p:grpSpPr>
          <a:xfrm>
            <a:off x="628649" y="1176325"/>
            <a:ext cx="7550943" cy="1085850"/>
            <a:chOff x="839787" y="1426767"/>
            <a:chExt cx="10067924" cy="1447800"/>
          </a:xfrm>
        </p:grpSpPr>
        <p:pic>
          <p:nvPicPr>
            <p:cNvPr id="283" name="Shape 2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9787" y="1426767"/>
              <a:ext cx="10067924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Shape 284"/>
            <p:cNvSpPr/>
            <p:nvPr/>
          </p:nvSpPr>
          <p:spPr>
            <a:xfrm>
              <a:off x="9736428" y="1712890"/>
              <a:ext cx="862883" cy="347728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Shape 285"/>
            <p:cNvSpPr/>
            <p:nvPr/>
          </p:nvSpPr>
          <p:spPr>
            <a:xfrm>
              <a:off x="4230923" y="1764405"/>
              <a:ext cx="425002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Shape 286"/>
            <p:cNvSpPr/>
            <p:nvPr/>
          </p:nvSpPr>
          <p:spPr>
            <a:xfrm>
              <a:off x="4230923" y="2217531"/>
              <a:ext cx="585775" cy="283230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Shape 287"/>
            <p:cNvSpPr/>
            <p:nvPr/>
          </p:nvSpPr>
          <p:spPr>
            <a:xfrm>
              <a:off x="4230923" y="2467378"/>
              <a:ext cx="585775" cy="26552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Shape 288"/>
            <p:cNvSpPr/>
            <p:nvPr/>
          </p:nvSpPr>
          <p:spPr>
            <a:xfrm>
              <a:off x="6532914" y="2011467"/>
              <a:ext cx="425002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Shape 289"/>
            <p:cNvSpPr/>
            <p:nvPr/>
          </p:nvSpPr>
          <p:spPr>
            <a:xfrm>
              <a:off x="7376695" y="2011467"/>
              <a:ext cx="1110482" cy="240409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Shape 290"/>
            <p:cNvSpPr/>
            <p:nvPr/>
          </p:nvSpPr>
          <p:spPr>
            <a:xfrm>
              <a:off x="882511" y="1764405"/>
              <a:ext cx="1615991" cy="247063"/>
            </a:xfrm>
            <a:prstGeom prst="rect">
              <a:avLst/>
            </a:prstGeom>
            <a:noFill/>
            <a:ln cap="flat" cmpd="sng" w="57150">
              <a:solidFill>
                <a:srgbClr val="00B05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ctr" bIns="34275" lIns="68575" rIns="68575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is the list of Games results populated? – Games.aspx</a:t>
            </a:r>
          </a:p>
        </p:txBody>
      </p:sp>
      <p:sp>
        <p:nvSpPr>
          <p:cNvPr id="296" name="Shape 29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listview for the list of Games which are displayed on the Games.aspx is populated by a select method – GetGames()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GetGames calls GetGamesWithParams(GetParameters())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GetParameters() is the method which retrieves the Param String from the URL and assembles the parameters into a generic list of objects.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 – Polymorphism</a:t>
            </a:r>
          </a:p>
        </p:txBody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GetGamesWithParams(List&lt;object&gt; filters) is an object oriented method which utilizes polymorphism .</a:t>
            </a:r>
          </a:p>
          <a:p>
            <a:pPr indent="-171450" lvl="0" marL="177800" marR="0" rtl="0" algn="l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List&lt;object&gt; filters can be of any length, and can contain many different types of objects.</a:t>
            </a:r>
          </a:p>
          <a:p>
            <a:pPr indent="-171450" lvl="0" marL="177800" marR="0" rtl="0" algn="l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 generates a LINQ query based on all of the parameters passed in via the list of filter objects passed into it.</a:t>
            </a:r>
          </a:p>
          <a:p>
            <a:pPr indent="-171450" lvl="0" marL="177800" marR="0" rtl="0" algn="l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 executes the LINQ query and then returns the resulting list of games.</a:t>
            </a:r>
          </a:p>
          <a:p>
            <a:pPr indent="-171450" lvl="0" marL="177800" marR="0" rtl="0" algn="l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 of games returned by this method is then used to populate the listview on the Games.aspx web page.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is the LINQ query generated? - LINQKIT</a:t>
            </a:r>
          </a:p>
        </p:txBody>
      </p:sp>
      <p:sp>
        <p:nvSpPr>
          <p:cNvPr id="308" name="Shape 30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GetGamesWithParams(List&lt;object&gt; filters) utilizes LINQKIT to generate the LINQ query for the filters to be applied to the list of games.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Comprised of extensions for LINQ to SQL and Entity Framework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AsExpandable() method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Predicate Builder Functions – PredicateBuilder.cs class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you to Dynamically build predicates by providing methods which invoke changes to your LINQ query after it has already been defined.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you to combine LINQ expressions together using ANDs, ORs, XORs, NANDs &amp; NORs.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/>
          <p:nvPr>
            <p:ph type="title"/>
          </p:nvPr>
        </p:nvSpPr>
        <p:spPr>
          <a:xfrm>
            <a:off x="457200" y="0"/>
            <a:ext cx="8229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0" baseline="0" i="0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Queries in GetGamesWithParams()</a:t>
            </a:r>
          </a:p>
        </p:txBody>
      </p:sp>
      <p:sp>
        <p:nvSpPr>
          <p:cNvPr id="314" name="Shape 3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rIns="68575" tIns="34275">
            <a:noAutofit/>
          </a:bodyPr>
          <a:lstStyle/>
          <a:p>
            <a:pPr indent="-171450" lvl="0" marL="1778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filter object passed into the method, the method determines which type of filter it is, generates a LINQ query corresponding to it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LINQ query is then ANDed with the combined LINQ query generated by each filter object being processed by the foreach loop.</a:t>
            </a: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baseline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all possible as a result of the utilization of the LINQKit package.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/>
          <p:nvPr>
            <p:ph type="ctr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0" baseline="0" i="0" sz="5000" u="none" cap="none" strike="noStrike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  <a:rtl val="0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50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Product Advertising API</a:t>
            </a:r>
          </a:p>
        </p:txBody>
      </p:sp>
      <p:sp>
        <p:nvSpPr>
          <p:cNvPr id="320" name="Shape 320"/>
          <p:cNvSpPr txBox="1"/>
          <p:nvPr>
            <p:ph idx="1" type="subTitle"/>
          </p:nvPr>
        </p:nvSpPr>
        <p:spPr>
          <a:xfrm>
            <a:off x="1371600" y="1551050"/>
            <a:ext cx="6400799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Game Search on Amazon.com</a:t>
            </a:r>
          </a:p>
        </p:txBody>
      </p:sp>
      <p:pic>
        <p:nvPicPr>
          <p:cNvPr id="321" name="Shape 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49" y="2286000"/>
            <a:ext cx="2857499" cy="28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AWS Itemsearch</a:t>
            </a:r>
          </a:p>
        </p:txBody>
      </p:sp>
      <p:sp>
        <p:nvSpPr>
          <p:cNvPr id="327" name="Shape 32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Used Itemsearch functionality in Amazon</a:t>
            </a:r>
            <a:r>
              <a:rPr lang="en">
                <a:rtl val="0"/>
              </a:rPr>
              <a:t>’</a:t>
            </a: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 Product Advertising API.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The ItemSearch operation returns items that satisfy the search criteria, including one or more search indices.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Search indices used: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	1. Video Games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	2. Toys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	3. Mobile Apps and Games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Access to a lot of the data used by Amazon including the items for sale. 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Used Request object to define which elements to extract from.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Retrieval of individual information from websites is by Response object.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Financial prospects are realized by creating a Product Advertising API-driven web stores which acts as an e-commerce storefront.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  <a:rtl val="0"/>
            </a:endParaRP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Becoming an Associate</a:t>
            </a:r>
          </a:p>
        </p:txBody>
      </p:sp>
      <p:sp>
        <p:nvSpPr>
          <p:cNvPr id="333" name="Shape 333"/>
          <p:cNvSpPr txBox="1"/>
          <p:nvPr>
            <p:ph idx="1" type="body"/>
          </p:nvPr>
        </p:nvSpPr>
        <p:spPr>
          <a:xfrm>
            <a:off x="311700" y="1152475"/>
            <a:ext cx="8520599" cy="1343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Product Advertising API to advertise Amazon products and Amazon Associates earn referral fees when customers buy qualifying products.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Commission given on the basis of Associate ID, also known as an Associate tag. 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Associate ID: An automatically generated unique identifier that is needed to make requests through the Product Advertising API</a:t>
            </a:r>
          </a:p>
        </p:txBody>
      </p:sp>
      <p:pic>
        <p:nvPicPr>
          <p:cNvPr id="334" name="Shape 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27100"/>
            <a:ext cx="8520599" cy="225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0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Information Exchange &amp; OOP - Encapsulation</a:t>
            </a:r>
          </a:p>
        </p:txBody>
      </p:sp>
      <p:sp>
        <p:nvSpPr>
          <p:cNvPr id="340" name="Shape 340"/>
          <p:cNvSpPr txBox="1"/>
          <p:nvPr>
            <p:ph idx="1" type="body"/>
          </p:nvPr>
        </p:nvSpPr>
        <p:spPr>
          <a:xfrm>
            <a:off x="311700" y="1152475"/>
            <a:ext cx="3322799" cy="3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Client – Server interaction achieved through SOAP.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Used Request object to define which elements to extract from.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Retrieval of individual information from websites is by Response object.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>
                <a:rtl val="0"/>
              </a:rPr>
              <a:t>OOP concept Encapsulation is achieved as “ItemSearchRequest” object encapsulates information to be sent to web service.</a:t>
            </a:r>
          </a:p>
        </p:txBody>
      </p:sp>
      <p:pic>
        <p:nvPicPr>
          <p:cNvPr id="341" name="Shape 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600" y="1152475"/>
            <a:ext cx="4990300" cy="34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WSDL &amp; OOP - Namespaces</a:t>
            </a:r>
          </a:p>
        </p:txBody>
      </p:sp>
      <p:sp>
        <p:nvSpPr>
          <p:cNvPr id="347" name="Shape 34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•"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Client and server agreement on the grammar and syntax used in the requests and responses based on WSDL specification.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•"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SOAP namespace used is xmlns:soap="http://schemas.xmlsoap.org/wsdl/soap/"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•"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Schema used is xmlns:xs="http://www.w3.org/2001/XMLSchema"</a:t>
            </a:r>
          </a:p>
          <a:p>
            <a:pPr indent="-1397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•"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Product Advertising API WSDL namespace is "http://webservices.amazon.com/AWSECommerceService/2013-08-01"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  <a:rtl val="0"/>
            </a:endParaRPr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2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WSDL Request Object Schema &amp; OOP - Encapsulation</a:t>
            </a:r>
          </a:p>
        </p:txBody>
      </p:sp>
      <p:sp>
        <p:nvSpPr>
          <p:cNvPr id="353" name="Shape 353"/>
          <p:cNvSpPr txBox="1"/>
          <p:nvPr>
            <p:ph idx="1" type="body"/>
          </p:nvPr>
        </p:nvSpPr>
        <p:spPr>
          <a:xfrm>
            <a:off x="396500" y="1152475"/>
            <a:ext cx="5682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&lt;xs:element name="ItemSearch"&gt;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&lt;xs:complexType&gt;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&lt;xs:sequence&gt;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&lt;xs:element minOccurs="0" name="MarketplaceDomain"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&lt;xs:element minOccurs="0" name="AWSAccessKeyId"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&lt;xs:element minOccurs="0" name="AssociateTag"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&lt;xs:element minOccurs="0" maxOccurs="unbounded" name="Request“ type="tns:ItemSearchRequest"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&lt;/xs:sequence&gt;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&lt;/xs:complexType&gt;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&lt;/xs:element&gt;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&lt;xs:complexType name="ItemSearchRequest"&gt;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&lt;xs:sequence&gt;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&lt;xs:element minOccurs="0" maxOccurs="unbounded" name="ResponseGroup"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&lt;xs:element minOccurs="0" name="SearchIndex"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&lt;xs:element minOccurs="0" name="Title" type="xs:string"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&lt;/xs:sequence&gt;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&lt;/xs:complexType&gt;</a:t>
            </a:r>
          </a:p>
        </p:txBody>
      </p:sp>
      <p:sp>
        <p:nvSpPr>
          <p:cNvPr id="354" name="Shape 354"/>
          <p:cNvSpPr txBox="1"/>
          <p:nvPr>
            <p:ph idx="2" type="body"/>
          </p:nvPr>
        </p:nvSpPr>
        <p:spPr>
          <a:xfrm>
            <a:off x="5817900" y="1152475"/>
            <a:ext cx="30143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&lt;xs:element name="ItemSearchResponse"&gt;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&lt;xs:complexType&gt;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&lt;xs:sequence&gt;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&lt;xs:element minOccurs="0" ref="tns:OperationRequest"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&lt;xs:element minOccurs="0" maxOccurs="unbounded" ref="tns:Items" /&gt;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&lt;/xs:sequence&gt;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&lt;/xs:complexType&gt;</a:t>
            </a: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&lt;/xs:element&gt;</a:t>
            </a:r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lang="en"/>
              <a:t>OOP - Partial class &amp; Inheritance</a:t>
            </a:r>
          </a:p>
        </p:txBody>
      </p:sp>
      <p:sp>
        <p:nvSpPr>
          <p:cNvPr id="360" name="Shape 360"/>
          <p:cNvSpPr txBox="1"/>
          <p:nvPr>
            <p:ph idx="1" type="body"/>
          </p:nvPr>
        </p:nvSpPr>
        <p:spPr>
          <a:xfrm>
            <a:off x="311700" y="1152475"/>
            <a:ext cx="3565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Partial class is used to create possibility of splitting the definition of the class over two or more source files.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ItemSearch class inherits “INotifyPropertyChanged”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to use “RaisePropertyChanged” function for detecting changes in Object properties.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Similar for “ItemSearchResponse” class</a:t>
            </a:r>
          </a:p>
        </p:txBody>
      </p:sp>
      <p:pic>
        <p:nvPicPr>
          <p:cNvPr id="361" name="Shape 3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900" y="1152475"/>
            <a:ext cx="4955401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Walkthrough</a:t>
            </a:r>
          </a:p>
        </p:txBody>
      </p:sp>
      <p:sp>
        <p:nvSpPr>
          <p:cNvPr id="367" name="Shape 367"/>
          <p:cNvSpPr txBox="1"/>
          <p:nvPr>
            <p:ph idx="1" type="body"/>
          </p:nvPr>
        </p:nvSpPr>
        <p:spPr>
          <a:xfrm>
            <a:off x="311700" y="1152475"/>
            <a:ext cx="30254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Clicking the “Buy it out on Amazon.com” button retrieves link to selected game’s webpages available on Amazon.com.</a:t>
            </a:r>
          </a:p>
        </p:txBody>
      </p:sp>
      <p:pic>
        <p:nvPicPr>
          <p:cNvPr id="368" name="Shape 3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7225" y="1152475"/>
            <a:ext cx="549507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Walkthrough</a:t>
            </a:r>
          </a:p>
        </p:txBody>
      </p:sp>
      <p:sp>
        <p:nvSpPr>
          <p:cNvPr id="374" name="Shape 374"/>
          <p:cNvSpPr txBox="1"/>
          <p:nvPr>
            <p:ph idx="1" type="body"/>
          </p:nvPr>
        </p:nvSpPr>
        <p:spPr>
          <a:xfrm>
            <a:off x="311700" y="1152475"/>
            <a:ext cx="3036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Available webpage links are displayed with game titles.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User can select the link that they want to navigate to.</a:t>
            </a:r>
          </a:p>
        </p:txBody>
      </p:sp>
      <p:pic>
        <p:nvPicPr>
          <p:cNvPr id="375" name="Shape 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225" y="1152475"/>
            <a:ext cx="548407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Walkthrough</a:t>
            </a:r>
          </a:p>
        </p:txBody>
      </p:sp>
      <p:sp>
        <p:nvSpPr>
          <p:cNvPr id="381" name="Shape 381"/>
          <p:cNvSpPr txBox="1"/>
          <p:nvPr>
            <p:ph idx="1" type="body"/>
          </p:nvPr>
        </p:nvSpPr>
        <p:spPr>
          <a:xfrm>
            <a:off x="311700" y="1152475"/>
            <a:ext cx="3036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User is redirected from IGDB to Amazon.com’s game website.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User can buy the game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After purchase IGDB gets commision for referral.</a:t>
            </a:r>
          </a:p>
        </p:txBody>
      </p:sp>
      <p:pic>
        <p:nvPicPr>
          <p:cNvPr id="382" name="Shape 3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224" y="1152475"/>
            <a:ext cx="5483999" cy="363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Future Expansion</a:t>
            </a:r>
          </a:p>
        </p:txBody>
      </p:sp>
      <p:sp>
        <p:nvSpPr>
          <p:cNvPr id="388" name="Shape 388"/>
          <p:cNvSpPr txBox="1"/>
          <p:nvPr>
            <p:ph idx="1" type="body"/>
          </p:nvPr>
        </p:nvSpPr>
        <p:spPr>
          <a:xfrm>
            <a:off x="311700" y="1152475"/>
            <a:ext cx="5415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Possible expansion includes: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Add selected game directly to users Amazon shopping cart.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Clear users Amazon shopping cart directly from IGDB.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Create Shopping cart on IGDB and sending bulk order to Amazon.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Include additional game information such as Price, Availability, Deals, Offers, etc from Amazon database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Find games similar to selected games from Amazon database.</a:t>
            </a:r>
          </a:p>
        </p:txBody>
      </p:sp>
      <p:pic>
        <p:nvPicPr>
          <p:cNvPr id="389" name="Shape 3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550" y="1152475"/>
            <a:ext cx="2851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/>
          <p:nvPr>
            <p:ph type="ctr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0" baseline="0" i="0" sz="5000" u="none" cap="none" strike="noStrike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  <a:rtl val="0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50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Image Upload</a:t>
            </a:r>
          </a:p>
        </p:txBody>
      </p:sp>
      <p:sp>
        <p:nvSpPr>
          <p:cNvPr id="395" name="Shape 395"/>
          <p:cNvSpPr txBox="1"/>
          <p:nvPr>
            <p:ph idx="1" type="subTitle"/>
          </p:nvPr>
        </p:nvSpPr>
        <p:spPr>
          <a:xfrm>
            <a:off x="1371600" y="1551050"/>
            <a:ext cx="6400799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Image Uploading and Preview while adding game</a:t>
            </a:r>
          </a:p>
        </p:txBody>
      </p:sp>
    </p:spTree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/>
          <p:nvPr>
            <p:ph type="ctrTitle"/>
          </p:nvPr>
        </p:nvSpPr>
        <p:spPr>
          <a:xfrm>
            <a:off x="311700" y="457200"/>
            <a:ext cx="85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Questrial"/>
              <a:buNone/>
            </a:pPr>
            <a:r>
              <a:t/>
            </a:r>
            <a:endParaRPr b="0" baseline="0" i="0" sz="5000" u="none" cap="none" strike="noStrike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  <a:rtl val="0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Implementation &amp; OOP</a:t>
            </a:r>
            <a:r>
              <a:rPr lang="en" sz="3600">
                <a:rtl val="0"/>
              </a:rPr>
              <a:t> - Access Contol</a:t>
            </a:r>
          </a:p>
        </p:txBody>
      </p:sp>
      <p:sp>
        <p:nvSpPr>
          <p:cNvPr id="401" name="Shape 401"/>
          <p:cNvSpPr txBox="1"/>
          <p:nvPr>
            <p:ph idx="1" type="body"/>
          </p:nvPr>
        </p:nvSpPr>
        <p:spPr>
          <a:xfrm>
            <a:off x="311700" y="1551175"/>
            <a:ext cx="45345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“GameImageConfirm” helps upload game icon into IGDB.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Functionality filters out icons based on extension.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Filtered image is saved in Temporary folder and saved in database on click of “Add Game” button.</a:t>
            </a: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/>
              <a:t>On “ImageIcon” click saved image is displayed for preview.</a:t>
            </a:r>
          </a:p>
        </p:txBody>
      </p:sp>
      <p:pic>
        <p:nvPicPr>
          <p:cNvPr id="402" name="Shape 4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200" y="1371600"/>
            <a:ext cx="3721550" cy="33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Walkthrough</a:t>
            </a:r>
          </a:p>
        </p:txBody>
      </p:sp>
      <p:sp>
        <p:nvSpPr>
          <p:cNvPr id="408" name="Shape 408"/>
          <p:cNvSpPr txBox="1"/>
          <p:nvPr>
            <p:ph idx="1" type="body"/>
          </p:nvPr>
        </p:nvSpPr>
        <p:spPr>
          <a:xfrm>
            <a:off x="311700" y="1152475"/>
            <a:ext cx="3058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Clicking on “Choose File” button on Add Game page opens Open file dialog box.</a:t>
            </a:r>
          </a:p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The user can choose the game icon of his choice.</a:t>
            </a:r>
          </a:p>
        </p:txBody>
      </p:sp>
      <p:pic>
        <p:nvPicPr>
          <p:cNvPr id="409" name="Shape 4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250" y="1152475"/>
            <a:ext cx="54620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Walkthrough</a:t>
            </a:r>
          </a:p>
        </p:txBody>
      </p:sp>
      <p:sp>
        <p:nvSpPr>
          <p:cNvPr id="415" name="Shape 415"/>
          <p:cNvSpPr txBox="1"/>
          <p:nvPr>
            <p:ph idx="1" type="body"/>
          </p:nvPr>
        </p:nvSpPr>
        <p:spPr>
          <a:xfrm>
            <a:off x="311700" y="1152475"/>
            <a:ext cx="3058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rIns="68575" tIns="68575">
            <a:noAutofit/>
          </a:bodyPr>
          <a:lstStyle/>
          <a:p>
            <a:pPr indent="-698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Clicking on game icon image provides the preview of the uploaded image on IGDB</a:t>
            </a:r>
          </a:p>
        </p:txBody>
      </p:sp>
      <p:pic>
        <p:nvPicPr>
          <p:cNvPr id="416" name="Shape 4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200" y="1152475"/>
            <a:ext cx="54621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rIns="68575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Questrial"/>
              <a:buNone/>
            </a:pPr>
            <a:r>
              <a:rPr b="0" baseline="0" i="0" lang="en" sz="36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  <a:rtl val="0"/>
              </a:rPr>
              <a:t>Walkthrough</a:t>
            </a:r>
          </a:p>
        </p:txBody>
      </p:sp>
      <p:pic>
        <p:nvPicPr>
          <p:cNvPr id="422" name="Shape 4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450" y="1141450"/>
            <a:ext cx="5495099" cy="363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ompany background presentatio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